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2343387" y="1052195"/>
            <a:ext cx="8045400" cy="4947954"/>
            <a:chOff x="2682" y="4278"/>
            <a:chExt cx="9795" cy="5707"/>
          </a:xfrm>
        </p:grpSpPr>
        <p:sp>
          <p:nvSpPr>
            <p:cNvPr id="7" name="任意多边形: 形状 6"/>
            <p:cNvSpPr/>
            <p:nvPr/>
          </p:nvSpPr>
          <p:spPr>
            <a:xfrm>
              <a:off x="7973" y="7699"/>
              <a:ext cx="3939" cy="1869"/>
            </a:xfrm>
            <a:custGeom>
              <a:avLst/>
              <a:gdLst>
                <a:gd name="connsiteX0" fmla="*/ 0 w 3217985"/>
                <a:gd name="connsiteY0" fmla="*/ 0 h 1371600"/>
                <a:gd name="connsiteX1" fmla="*/ 914400 w 3217985"/>
                <a:gd name="connsiteY1" fmla="*/ 1342292 h 1371600"/>
                <a:gd name="connsiteX2" fmla="*/ 2215662 w 3217985"/>
                <a:gd name="connsiteY2" fmla="*/ 867508 h 1371600"/>
                <a:gd name="connsiteX3" fmla="*/ 3217985 w 3217985"/>
                <a:gd name="connsiteY3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7985" h="1371600">
                  <a:moveTo>
                    <a:pt x="0" y="0"/>
                  </a:moveTo>
                  <a:cubicBezTo>
                    <a:pt x="272561" y="598853"/>
                    <a:pt x="545123" y="1197707"/>
                    <a:pt x="914400" y="1342292"/>
                  </a:cubicBezTo>
                  <a:cubicBezTo>
                    <a:pt x="1283677" y="1486877"/>
                    <a:pt x="1831731" y="862623"/>
                    <a:pt x="2215662" y="867508"/>
                  </a:cubicBezTo>
                  <a:cubicBezTo>
                    <a:pt x="2599593" y="872393"/>
                    <a:pt x="2908789" y="1121996"/>
                    <a:pt x="3217985" y="1371600"/>
                  </a:cubicBezTo>
                </a:path>
              </a:pathLst>
            </a:custGeom>
            <a:noFill/>
            <a:ln w="25400">
              <a:solidFill>
                <a:srgbClr val="A620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8095" y="8095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902" y="7635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8354" y="8633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8675" y="9168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9160" y="9481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9476" y="9417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9769" y="9249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0065" y="9040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0542" y="8841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1142" y="8969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849" y="9481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>
            <a:xfrm flipV="1">
              <a:off x="7618" y="7150"/>
              <a:ext cx="0" cy="28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V="1">
              <a:off x="7602" y="9977"/>
              <a:ext cx="471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任意多边形: 形状 31"/>
            <p:cNvSpPr/>
            <p:nvPr/>
          </p:nvSpPr>
          <p:spPr>
            <a:xfrm>
              <a:off x="3054" y="7367"/>
              <a:ext cx="3932" cy="2409"/>
            </a:xfrm>
            <a:custGeom>
              <a:avLst/>
              <a:gdLst>
                <a:gd name="connsiteX0" fmla="*/ 0 w 3212123"/>
                <a:gd name="connsiteY0" fmla="*/ 268920 h 2039543"/>
                <a:gd name="connsiteX1" fmla="*/ 99646 w 3212123"/>
                <a:gd name="connsiteY1" fmla="*/ 954720 h 2039543"/>
                <a:gd name="connsiteX2" fmla="*/ 263770 w 3212123"/>
                <a:gd name="connsiteY2" fmla="*/ 11013 h 2039543"/>
                <a:gd name="connsiteX3" fmla="*/ 451339 w 3212123"/>
                <a:gd name="connsiteY3" fmla="*/ 1722582 h 2039543"/>
                <a:gd name="connsiteX4" fmla="*/ 808893 w 3212123"/>
                <a:gd name="connsiteY4" fmla="*/ 1241936 h 2039543"/>
                <a:gd name="connsiteX5" fmla="*/ 1090246 w 3212123"/>
                <a:gd name="connsiteY5" fmla="*/ 2033243 h 2039543"/>
                <a:gd name="connsiteX6" fmla="*/ 1383323 w 3212123"/>
                <a:gd name="connsiteY6" fmla="*/ 1617074 h 2039543"/>
                <a:gd name="connsiteX7" fmla="*/ 1664677 w 3212123"/>
                <a:gd name="connsiteY7" fmla="*/ 1693274 h 2039543"/>
                <a:gd name="connsiteX8" fmla="*/ 1922585 w 3212123"/>
                <a:gd name="connsiteY8" fmla="*/ 1071951 h 2039543"/>
                <a:gd name="connsiteX9" fmla="*/ 2373923 w 3212123"/>
                <a:gd name="connsiteY9" fmla="*/ 1535013 h 2039543"/>
                <a:gd name="connsiteX10" fmla="*/ 2790093 w 3212123"/>
                <a:gd name="connsiteY10" fmla="*/ 1382613 h 2039543"/>
                <a:gd name="connsiteX11" fmla="*/ 3212123 w 3212123"/>
                <a:gd name="connsiteY11" fmla="*/ 1851536 h 2039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12123" h="2039543">
                  <a:moveTo>
                    <a:pt x="0" y="268920"/>
                  </a:moveTo>
                  <a:cubicBezTo>
                    <a:pt x="27842" y="633312"/>
                    <a:pt x="55684" y="997704"/>
                    <a:pt x="99646" y="954720"/>
                  </a:cubicBezTo>
                  <a:cubicBezTo>
                    <a:pt x="143608" y="911736"/>
                    <a:pt x="205155" y="-116964"/>
                    <a:pt x="263770" y="11013"/>
                  </a:cubicBezTo>
                  <a:cubicBezTo>
                    <a:pt x="322386" y="138990"/>
                    <a:pt x="360485" y="1517428"/>
                    <a:pt x="451339" y="1722582"/>
                  </a:cubicBezTo>
                  <a:cubicBezTo>
                    <a:pt x="542193" y="1927736"/>
                    <a:pt x="702409" y="1190159"/>
                    <a:pt x="808893" y="1241936"/>
                  </a:cubicBezTo>
                  <a:cubicBezTo>
                    <a:pt x="915377" y="1293713"/>
                    <a:pt x="994508" y="1970720"/>
                    <a:pt x="1090246" y="2033243"/>
                  </a:cubicBezTo>
                  <a:cubicBezTo>
                    <a:pt x="1185984" y="2095766"/>
                    <a:pt x="1287585" y="1673736"/>
                    <a:pt x="1383323" y="1617074"/>
                  </a:cubicBezTo>
                  <a:cubicBezTo>
                    <a:pt x="1479062" y="1560413"/>
                    <a:pt x="1574800" y="1784128"/>
                    <a:pt x="1664677" y="1693274"/>
                  </a:cubicBezTo>
                  <a:cubicBezTo>
                    <a:pt x="1754554" y="1602420"/>
                    <a:pt x="1804377" y="1098328"/>
                    <a:pt x="1922585" y="1071951"/>
                  </a:cubicBezTo>
                  <a:cubicBezTo>
                    <a:pt x="2040793" y="1045574"/>
                    <a:pt x="2229339" y="1483236"/>
                    <a:pt x="2373923" y="1535013"/>
                  </a:cubicBezTo>
                  <a:cubicBezTo>
                    <a:pt x="2518507" y="1586790"/>
                    <a:pt x="2650393" y="1329859"/>
                    <a:pt x="2790093" y="1382613"/>
                  </a:cubicBezTo>
                  <a:cubicBezTo>
                    <a:pt x="2929793" y="1435367"/>
                    <a:pt x="3137877" y="1792921"/>
                    <a:pt x="3212123" y="1851536"/>
                  </a:cubicBezTo>
                </a:path>
              </a:pathLst>
            </a:custGeom>
            <a:noFill/>
            <a:ln w="25400">
              <a:solidFill>
                <a:srgbClr val="A620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176" y="8095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2983" y="7634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3435" y="8633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3755" y="9167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4240" y="9480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4556" y="9416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850" y="9249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5145" y="9040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622" y="8841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6223" y="8968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6929" y="9480"/>
              <a:ext cx="128" cy="12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rgbClr val="FFFFFF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>
            <a:xfrm flipV="1">
              <a:off x="2692" y="7149"/>
              <a:ext cx="0" cy="28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V="1">
              <a:off x="2682" y="9977"/>
              <a:ext cx="4715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7947" y="4278"/>
              <a:ext cx="3845" cy="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过参数化神经网络</a:t>
              </a:r>
              <a:endParaRPr lang="zh-CN" altLang="en-US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727" y="5688"/>
              <a:ext cx="2512" cy="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经验倾向于</a:t>
              </a:r>
              <a:endParaRPr lang="zh-CN" altLang="en-US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>
            <a:xfrm flipH="1">
              <a:off x="9692" y="5311"/>
              <a:ext cx="4" cy="13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4151" y="6872"/>
              <a:ext cx="1624" cy="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过拟合</a:t>
              </a:r>
              <a:endParaRPr lang="zh-CN" altLang="en-US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8880" y="6872"/>
              <a:ext cx="2803" cy="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符合直观</a:t>
              </a:r>
              <a:endParaRPr lang="zh-CN" altLang="en-US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8826" y="7424"/>
              <a:ext cx="3651" cy="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 b="1" dirty="0">
                  <a:solidFill>
                    <a:srgbClr val="A62038"/>
                  </a:solidFill>
                  <a:latin typeface="Arial" panose="020B0604020202090204"/>
                  <a:ea typeface="微软雅黑"/>
                </a:rPr>
                <a:t>通常泛化性好</a:t>
              </a:r>
              <a:endParaRPr lang="zh-CN" altLang="en-US" sz="2200" b="1" dirty="0">
                <a:solidFill>
                  <a:srgbClr val="A62038"/>
                </a:solidFill>
                <a:latin typeface="Arial" panose="020B0604020202090204"/>
                <a:ea typeface="微软雅黑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037" y="4279"/>
              <a:ext cx="3514" cy="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过参数化模型</a:t>
              </a:r>
              <a:endParaRPr lang="en-US" altLang="zh-CN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  <a:p>
              <a:pPr algn="ctr"/>
              <a:r>
                <a:rPr lang="en-US" altLang="zh-CN" sz="2200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(</a:t>
              </a:r>
              <a:r>
                <a:rPr lang="zh-CN" altLang="en-US" sz="2200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参数量</a:t>
              </a:r>
              <a:r>
                <a:rPr lang="en-US" altLang="zh-CN" sz="2200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&gt;</a:t>
              </a:r>
              <a:r>
                <a:rPr lang="zh-CN" altLang="en-US" sz="2200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样本量</a:t>
              </a:r>
              <a:r>
                <a:rPr lang="en-US" altLang="zh-CN" sz="2200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)</a:t>
              </a:r>
              <a:endParaRPr lang="zh-CN" altLang="en-US" sz="2200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H="1">
              <a:off x="4805" y="5311"/>
              <a:ext cx="4" cy="13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4987" y="5688"/>
              <a:ext cx="2512" cy="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 b="1" dirty="0">
                  <a:solidFill>
                    <a:srgbClr val="000000"/>
                  </a:solidFill>
                  <a:latin typeface="Arial" panose="020B0604020202090204"/>
                  <a:ea typeface="微软雅黑"/>
                </a:rPr>
                <a:t>可以表达出</a:t>
              </a:r>
              <a:endParaRPr lang="zh-CN" altLang="en-US" sz="2200" b="1" dirty="0">
                <a:solidFill>
                  <a:srgbClr val="000000"/>
                </a:solidFill>
                <a:latin typeface="Arial" panose="020B0604020202090204"/>
                <a:ea typeface="微软雅黑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WPS 演示</Application>
  <PresentationFormat>宽屏</PresentationFormat>
  <Paragraphs>15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Arial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163</cp:revision>
  <dcterms:created xsi:type="dcterms:W3CDTF">2025-08-03T04:41:05Z</dcterms:created>
  <dcterms:modified xsi:type="dcterms:W3CDTF">2025-08-03T04:41:05Z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4261CF6A30933B57BFE78E683AEF055E_43</vt:lpwstr>
  </property>
</Properties>
</file>